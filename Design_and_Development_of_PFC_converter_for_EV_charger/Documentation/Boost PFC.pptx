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67" r:id="rId3"/>
    <p:sldId id="268" r:id="rId4"/>
    <p:sldId id="269" r:id="rId5"/>
    <p:sldId id="270" r:id="rId6"/>
    <p:sldId id="271" r:id="rId7"/>
    <p:sldId id="27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D2B610-D591-49BB-9212-AD2AF6AF5F7C}" type="datetimeFigureOut">
              <a:rPr lang="en-IN" smtClean="0"/>
              <a:t>15-01-2026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AFCCF7-A0C9-421A-BF6B-3BD3AB6A87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41883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0" name="Google Shape;60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8" name="Google Shape;208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9d16143204_0_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9" name="Google Shape;219;g39d16143204_0_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9d16143204_0_1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0" name="Google Shape;230;g39d16143204_0_1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39dba86e3bc_1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4" name="Google Shape;264;g39dba86e3bc_1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39dba86e3bc_1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4" name="Google Shape;274;g39dba86e3bc_1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7" name="Google Shape;297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91D025-BEC8-472C-D23D-9022096020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843B3A5-37C0-625C-783A-A1F4FBA5F8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0031F5-F202-17D7-76D2-F6B998D23B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DBC361-73B2-49AF-B6C9-08DA65ECA3A8}" type="datetimeFigureOut">
              <a:rPr lang="en-IN" smtClean="0"/>
              <a:t>15-01-2026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4DF356-0EDC-6ED9-48C6-574456A579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8E372F-782D-0F20-FD6B-5595285BCD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17E7DE-3432-4B68-BC53-E8861F675B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90590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75F7B9-D43F-7C10-9D0B-24B0363F66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C4EE11-F8B9-553D-366F-BC6ADCA266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3307D9-FAA1-5B4F-1083-D308AF4949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DBC361-73B2-49AF-B6C9-08DA65ECA3A8}" type="datetimeFigureOut">
              <a:rPr lang="en-IN" smtClean="0"/>
              <a:t>15-01-2026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8AA63E-DA65-70EF-7016-85A8E607E6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FB6EB2-2161-0892-F6D3-720E66290D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17E7DE-3432-4B68-BC53-E8861F675B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61417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736ADE-AF79-5C6D-0E04-03F9313299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4FD79F-E15F-7C00-D56B-4D82FB0F2F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0F70E2-4150-A3B7-5A84-0D9B7A01E7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DBC361-73B2-49AF-B6C9-08DA65ECA3A8}" type="datetimeFigureOut">
              <a:rPr lang="en-IN" smtClean="0"/>
              <a:t>15-01-2026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0AFE1D-1A6B-9168-39EA-738AFF9C2C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AD8B63-E559-28E3-7BE3-9B962675D5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17E7DE-3432-4B68-BC53-E8861F675B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23950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1D3E94-33B1-E192-84E3-8D871844BA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9632E2-041C-373A-2649-2EF9F1C03B1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0A888D-8971-94BD-959C-CEA6FFB543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F2AFC6-45DC-5015-F158-00879BF6F5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DBC361-73B2-49AF-B6C9-08DA65ECA3A8}" type="datetimeFigureOut">
              <a:rPr lang="en-IN" smtClean="0"/>
              <a:t>15-01-2026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6B5026-190E-B93E-4B0F-65BCFC3FE4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608031-8F45-F1AE-D35A-51A35E1764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17E7DE-3432-4B68-BC53-E8861F675B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25374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A649F2-458A-7CFB-877B-A6E2DE568E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52A50D-8F3A-3573-B7CF-7E659C76BD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909CC5-9343-D849-BB9D-7DEFA0BEF8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EA961A1-ED7A-A16A-65CF-DA772AF8E73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1AAEB9E-1101-23B3-7165-D9283E6F6B2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D6D39B2-E1FC-BD5D-8ADD-E77B4A5AC4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DBC361-73B2-49AF-B6C9-08DA65ECA3A8}" type="datetimeFigureOut">
              <a:rPr lang="en-IN" smtClean="0"/>
              <a:t>15-01-2026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9279D58-C6BF-BA8F-DCCF-A332B788B7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9A9F711-4803-5DAB-98CA-7D3F82AD7E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17E7DE-3432-4B68-BC53-E8861F675B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78686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E02AFE-310B-E134-2287-4FAC9C118D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6386FD5-1FBD-45E3-A6F1-6E08F52B2A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DBC361-73B2-49AF-B6C9-08DA65ECA3A8}" type="datetimeFigureOut">
              <a:rPr lang="en-IN" smtClean="0"/>
              <a:t>15-01-2026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FF5329B-2972-441F-8F4E-DCFAE5A44F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9DA077-90C5-414D-8BA7-927DF41BF5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17E7DE-3432-4B68-BC53-E8861F675B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0946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A3ABF33-12FC-164D-757A-9739AFF207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DBC361-73B2-49AF-B6C9-08DA65ECA3A8}" type="datetimeFigureOut">
              <a:rPr lang="en-IN" smtClean="0"/>
              <a:t>15-01-2026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D5824A9-1470-D94C-600D-E9F22E8BD4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A60819-0D58-E62C-02B6-2F403253B5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17E7DE-3432-4B68-BC53-E8861F675B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32565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09E76C-ECDB-AFE0-5E96-ADD7CA8A23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A9B0A0-19BD-30B5-8911-28FE6FAC20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F11504-2899-32C2-F795-EABD8588D9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B4AD49-5C62-A025-DBAC-457AC320E4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DBC361-73B2-49AF-B6C9-08DA65ECA3A8}" type="datetimeFigureOut">
              <a:rPr lang="en-IN" smtClean="0"/>
              <a:t>15-01-2026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52C26F-A607-91B1-9365-1D5D7B032C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AD8A9A-04FE-F75E-8CC0-57A3C82AF4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17E7DE-3432-4B68-BC53-E8861F675B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81271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0616B1-061A-9774-740F-87D73532B1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1AEE1A9-71C6-8058-709E-19E87C4D065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C9B210-0641-7854-C394-368403EE54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F6877A-CF5C-9E13-5F08-0D9D44F834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DBC361-73B2-49AF-B6C9-08DA65ECA3A8}" type="datetimeFigureOut">
              <a:rPr lang="en-IN" smtClean="0"/>
              <a:t>15-01-2026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4A2F7B-9028-4F83-1366-A97565E48C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FBC5BD-5FB3-52D9-C3C8-D9AE0B2F7A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17E7DE-3432-4B68-BC53-E8861F675B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46732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966BD1-710E-2A96-D76A-7086FF3600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9F3FEB1-F8C4-23DC-FE80-26449ADB72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EE3C0E-E9FF-CAE6-6000-CC225D7400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DBC361-73B2-49AF-B6C9-08DA65ECA3A8}" type="datetimeFigureOut">
              <a:rPr lang="en-IN" smtClean="0"/>
              <a:t>15-01-2026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F438D8-F030-7A07-F09A-C87B851CDB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AA4BFD-1241-8F3E-E95C-E31B531AA6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17E7DE-3432-4B68-BC53-E8861F675B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04207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E0EBF1D-E42C-5049-B1B6-50AFCC9DBFF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F82791A-33C3-4D96-7F4D-3F0A5BC0FB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690DFE-7DC8-812E-8EB0-E4D4101CD9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DBC361-73B2-49AF-B6C9-08DA65ECA3A8}" type="datetimeFigureOut">
              <a:rPr lang="en-IN" smtClean="0"/>
              <a:t>15-01-2026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68D97C-F36F-19E7-5EFE-20EDB8D0B8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900D96-174A-3D36-4CA4-D0F5CB0E13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17E7DE-3432-4B68-BC53-E8861F675B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908575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8"/>
          <p:cNvSpPr txBox="1">
            <a:spLocks noGrp="1"/>
          </p:cNvSpPr>
          <p:nvPr>
            <p:ph type="title"/>
          </p:nvPr>
        </p:nvSpPr>
        <p:spPr>
          <a:xfrm>
            <a:off x="0" y="0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9180"/>
              </a:buClr>
              <a:buSzPts val="2500"/>
              <a:buFont typeface="Nunito Medium"/>
              <a:buNone/>
              <a:defRPr sz="3333">
                <a:solidFill>
                  <a:srgbClr val="1F9180"/>
                </a:solidFill>
                <a:latin typeface="Nunito Medium"/>
                <a:ea typeface="Nunito Medium"/>
                <a:cs typeface="Nunito Medium"/>
                <a:sym typeface="Nunito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8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r>
              <a:rPr lang="en-US"/>
              <a:t>/6</a:t>
            </a:r>
          </a:p>
        </p:txBody>
      </p:sp>
      <p:sp>
        <p:nvSpPr>
          <p:cNvPr id="18" name="Google Shape;18;p28"/>
          <p:cNvSpPr txBox="1"/>
          <p:nvPr/>
        </p:nvSpPr>
        <p:spPr>
          <a:xfrm>
            <a:off x="777967" y="1417067"/>
            <a:ext cx="3279600" cy="9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867" b="0" i="0" u="none" strike="noStrike" cap="non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  <p:extLst>
      <p:ext uri="{BB962C8B-B14F-4D97-AF65-F5344CB8AC3E}">
        <p14:creationId xmlns:p14="http://schemas.microsoft.com/office/powerpoint/2010/main" val="32958302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C9C4D2B-A2DB-201F-A0B4-30244C716F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5C6CC5-810F-462B-3D49-03B56EB82F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E369BC-8C22-3DAB-0F81-FB50E59004B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DBC361-73B2-49AF-B6C9-08DA65ECA3A8}" type="datetimeFigureOut">
              <a:rPr lang="en-IN" smtClean="0"/>
              <a:t>15-01-2026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7A1165-6675-00A1-43E9-3F6599265F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B9CB4D-103E-3431-8E8C-1C57E31BAD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17E7DE-3432-4B68-BC53-E8861F675B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48669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0.jpg"/><Relationship Id="rId5" Type="http://schemas.openxmlformats.org/officeDocument/2006/relationships/image" Target="../media/image9.jp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20.png"/><Relationship Id="rId18" Type="http://schemas.openxmlformats.org/officeDocument/2006/relationships/image" Target="../media/image25.png"/><Relationship Id="rId3" Type="http://schemas.openxmlformats.org/officeDocument/2006/relationships/image" Target="../media/image1.png"/><Relationship Id="rId7" Type="http://schemas.openxmlformats.org/officeDocument/2006/relationships/image" Target="../media/image14.png"/><Relationship Id="rId12" Type="http://schemas.openxmlformats.org/officeDocument/2006/relationships/image" Target="../media/image19.png"/><Relationship Id="rId17" Type="http://schemas.openxmlformats.org/officeDocument/2006/relationships/image" Target="../media/image24.pn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23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3.png"/><Relationship Id="rId11" Type="http://schemas.openxmlformats.org/officeDocument/2006/relationships/image" Target="../media/image18.png"/><Relationship Id="rId5" Type="http://schemas.openxmlformats.org/officeDocument/2006/relationships/image" Target="../media/image12.png"/><Relationship Id="rId15" Type="http://schemas.openxmlformats.org/officeDocument/2006/relationships/image" Target="../media/image22.png"/><Relationship Id="rId10" Type="http://schemas.openxmlformats.org/officeDocument/2006/relationships/image" Target="../media/image17.png"/><Relationship Id="rId4" Type="http://schemas.openxmlformats.org/officeDocument/2006/relationships/image" Target="../media/image4.png"/><Relationship Id="rId9" Type="http://schemas.openxmlformats.org/officeDocument/2006/relationships/image" Target="../media/image16.png"/><Relationship Id="rId14" Type="http://schemas.openxmlformats.org/officeDocument/2006/relationships/image" Target="../media/image2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"/>
          <p:cNvSpPr/>
          <p:nvPr/>
        </p:nvSpPr>
        <p:spPr>
          <a:xfrm>
            <a:off x="0" y="2152067"/>
            <a:ext cx="12192000" cy="1299600"/>
          </a:xfrm>
          <a:prstGeom prst="rect">
            <a:avLst/>
          </a:prstGeom>
          <a:solidFill>
            <a:srgbClr val="1F9180">
              <a:alpha val="12549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>
              <a:buClr>
                <a:srgbClr val="000000"/>
              </a:buClr>
              <a:buSzPts val="1400"/>
            </a:pPr>
            <a:endParaRPr sz="186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"/>
          <p:cNvSpPr txBox="1">
            <a:spLocks noGrp="1"/>
          </p:cNvSpPr>
          <p:nvPr>
            <p:ph type="ctrTitle"/>
          </p:nvPr>
        </p:nvSpPr>
        <p:spPr>
          <a:xfrm>
            <a:off x="1313267" y="623614"/>
            <a:ext cx="9565466" cy="94238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b" anchorCtr="0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buSzPct val="36666"/>
            </a:pPr>
            <a:r>
              <a:rPr lang="en-US" sz="4000" dirty="0">
                <a:solidFill>
                  <a:srgbClr val="1F9180"/>
                </a:solidFill>
                <a:latin typeface="Calibri"/>
                <a:ea typeface="Calibri"/>
                <a:cs typeface="Calibri"/>
                <a:sym typeface="Calibri"/>
              </a:rPr>
              <a:t>Design of Boost PFC Converter</a:t>
            </a:r>
            <a:endParaRPr sz="4000" dirty="0">
              <a:solidFill>
                <a:srgbClr val="1F918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1"/>
          <p:cNvSpPr txBox="1">
            <a:spLocks noGrp="1"/>
          </p:cNvSpPr>
          <p:nvPr>
            <p:ph type="subTitle" idx="1"/>
          </p:nvPr>
        </p:nvSpPr>
        <p:spPr>
          <a:xfrm>
            <a:off x="1854600" y="2233367"/>
            <a:ext cx="8482800" cy="12568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pPr>
              <a:lnSpc>
                <a:spcPct val="50000"/>
              </a:lnSpc>
              <a:spcBef>
                <a:spcPts val="1333"/>
              </a:spcBef>
              <a:buClr>
                <a:schemeClr val="dk1"/>
              </a:buClr>
              <a:buSzPts val="1100"/>
            </a:pPr>
            <a:r>
              <a:rPr lang="en-IN" dirty="0">
                <a:solidFill>
                  <a:srgbClr val="1F9180"/>
                </a:solidFill>
                <a:latin typeface="Calibri"/>
                <a:ea typeface="Calibri"/>
                <a:cs typeface="Calibri"/>
                <a:sym typeface="Calibri"/>
              </a:rPr>
              <a:t>Course Project</a:t>
            </a:r>
          </a:p>
          <a:p>
            <a:pPr>
              <a:lnSpc>
                <a:spcPct val="50000"/>
              </a:lnSpc>
              <a:spcBef>
                <a:spcPts val="1333"/>
              </a:spcBef>
              <a:buClr>
                <a:schemeClr val="dk1"/>
              </a:buClr>
              <a:buSzPts val="1100"/>
            </a:pPr>
            <a:r>
              <a:rPr lang="en-IN" sz="2000" dirty="0">
                <a:solidFill>
                  <a:srgbClr val="1F9180"/>
                </a:solidFill>
                <a:latin typeface="Calibri"/>
                <a:ea typeface="Calibri"/>
                <a:cs typeface="Calibri"/>
                <a:sym typeface="Calibri"/>
              </a:rPr>
              <a:t>Course: </a:t>
            </a:r>
            <a:r>
              <a:rPr lang="en-IN" dirty="0">
                <a:solidFill>
                  <a:srgbClr val="1F9180"/>
                </a:solidFill>
                <a:latin typeface="Calibri"/>
                <a:ea typeface="Calibri"/>
                <a:cs typeface="Calibri"/>
                <a:sym typeface="Calibri"/>
              </a:rPr>
              <a:t>Power Converters for EV Chargers</a:t>
            </a:r>
            <a:endParaRPr dirty="0">
              <a:solidFill>
                <a:srgbClr val="1F918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>
              <a:lnSpc>
                <a:spcPct val="50000"/>
              </a:lnSpc>
              <a:spcBef>
                <a:spcPts val="1333"/>
              </a:spcBef>
              <a:buClr>
                <a:schemeClr val="dk1"/>
              </a:buClr>
              <a:buSzPts val="1100"/>
            </a:pPr>
            <a:r>
              <a:rPr lang="en-US" sz="1867" dirty="0">
                <a:solidFill>
                  <a:srgbClr val="1F9180"/>
                </a:solidFill>
                <a:latin typeface="Calibri"/>
                <a:ea typeface="Calibri"/>
                <a:cs typeface="Calibri"/>
                <a:sym typeface="Calibri"/>
              </a:rPr>
              <a:t>Guide: </a:t>
            </a:r>
            <a:r>
              <a:rPr lang="en-US" sz="2267" dirty="0">
                <a:solidFill>
                  <a:srgbClr val="1F9180"/>
                </a:solidFill>
                <a:latin typeface="Calibri"/>
                <a:ea typeface="Calibri"/>
                <a:cs typeface="Calibri"/>
                <a:sym typeface="Calibri"/>
              </a:rPr>
              <a:t>Prof. </a:t>
            </a:r>
            <a:r>
              <a:rPr lang="en-US" sz="2267" dirty="0" err="1">
                <a:solidFill>
                  <a:srgbClr val="1F9180"/>
                </a:solidFill>
                <a:latin typeface="Calibri"/>
                <a:ea typeface="Calibri"/>
                <a:cs typeface="Calibri"/>
                <a:sym typeface="Calibri"/>
              </a:rPr>
              <a:t>Siddavatam</a:t>
            </a:r>
            <a:r>
              <a:rPr lang="en-US" sz="2267" dirty="0">
                <a:solidFill>
                  <a:srgbClr val="1F9180"/>
                </a:solidFill>
                <a:latin typeface="Calibri"/>
                <a:ea typeface="Calibri"/>
                <a:cs typeface="Calibri"/>
                <a:sym typeface="Calibri"/>
              </a:rPr>
              <a:t> Ravi Prakash Reddy</a:t>
            </a:r>
            <a:endParaRPr sz="1867" dirty="0">
              <a:solidFill>
                <a:srgbClr val="1F918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>
              <a:lnSpc>
                <a:spcPct val="100000"/>
              </a:lnSpc>
              <a:spcBef>
                <a:spcPts val="0"/>
              </a:spcBef>
              <a:buSzPts val="2800"/>
            </a:pPr>
            <a:endParaRPr sz="1867" dirty="0">
              <a:solidFill>
                <a:srgbClr val="1F918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1"/>
          <p:cNvSpPr txBox="1"/>
          <p:nvPr/>
        </p:nvSpPr>
        <p:spPr>
          <a:xfrm>
            <a:off x="3309200" y="3663371"/>
            <a:ext cx="5573600" cy="8669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algn="ctr">
              <a:lnSpc>
                <a:spcPct val="50000"/>
              </a:lnSpc>
              <a:spcBef>
                <a:spcPts val="1333"/>
              </a:spcBef>
              <a:buClr>
                <a:schemeClr val="dk1"/>
              </a:buClr>
              <a:buSzPts val="1100"/>
            </a:pPr>
            <a:r>
              <a:rPr lang="en-US" sz="1867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Department of Energy Science and Engineering</a:t>
            </a:r>
            <a:endParaRPr sz="1867">
              <a:solidFill>
                <a:srgbClr val="99999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ctr">
              <a:lnSpc>
                <a:spcPct val="50000"/>
              </a:lnSpc>
              <a:spcBef>
                <a:spcPts val="1333"/>
              </a:spcBef>
              <a:buClr>
                <a:schemeClr val="dk1"/>
              </a:buClr>
              <a:buSzPts val="1100"/>
            </a:pPr>
            <a:r>
              <a:rPr lang="en-US" sz="1867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Indian Institute of Technology Bombay</a:t>
            </a:r>
            <a:endParaRPr sz="1867">
              <a:solidFill>
                <a:srgbClr val="99999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6" name="Google Shape;66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229167" y="4900402"/>
            <a:ext cx="1733700" cy="1690365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67;p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21320" y="5256784"/>
            <a:ext cx="1996097" cy="977601"/>
          </a:xfrm>
          <a:prstGeom prst="rect">
            <a:avLst/>
          </a:prstGeom>
          <a:noFill/>
          <a:ln>
            <a:noFill/>
          </a:ln>
        </p:spPr>
      </p:pic>
      <p:pic>
        <p:nvPicPr>
          <p:cNvPr id="68" name="Google Shape;68;p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405363" y="5283985"/>
            <a:ext cx="2611412" cy="923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0" name="Google Shape;210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548267" y="147830"/>
            <a:ext cx="479932" cy="467933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p1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843667" y="95403"/>
            <a:ext cx="629200" cy="629200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13"/>
          <p:cNvSpPr txBox="1"/>
          <p:nvPr/>
        </p:nvSpPr>
        <p:spPr>
          <a:xfrm>
            <a:off x="0" y="763600"/>
            <a:ext cx="12192000" cy="16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>
              <a:buClr>
                <a:srgbClr val="000000"/>
              </a:buClr>
              <a:buSzPts val="1800"/>
            </a:pPr>
            <a:r>
              <a:rPr lang="en-US" sz="2133">
                <a:solidFill>
                  <a:srgbClr val="1F9180"/>
                </a:solidFill>
                <a:latin typeface="Calibri"/>
                <a:ea typeface="Calibri"/>
                <a:cs typeface="Calibri"/>
                <a:sym typeface="Calibri"/>
              </a:rPr>
              <a:t>Major appliance equipment such as air conditioners, refrigerators, and washers use three-phase, pulse-width modulated BLDC or PMSM drives. </a:t>
            </a:r>
            <a:r>
              <a:rPr lang="en-US" sz="2133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These drives require a front-end power PFC regulator to shape the input current of the power supply and to meet the standards for power factor and current THD, such as IEC 61000-3-2. </a:t>
            </a:r>
            <a:endParaRPr sz="2133">
              <a:solidFill>
                <a:srgbClr val="CC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189" indent="-304792">
              <a:buClr>
                <a:srgbClr val="000000"/>
              </a:buClr>
              <a:buSzPts val="1800"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>
              <a:buClr>
                <a:srgbClr val="000000"/>
              </a:buClr>
              <a:buSzPts val="1800"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>
              <a:buClr>
                <a:srgbClr val="000000"/>
              </a:buClr>
              <a:buSzPts val="1800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3"/>
          <p:cNvSpPr txBox="1"/>
          <p:nvPr/>
        </p:nvSpPr>
        <p:spPr>
          <a:xfrm>
            <a:off x="0" y="2445730"/>
            <a:ext cx="5456000" cy="36022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r>
              <a:rPr lang="en-US" sz="2133">
                <a:solidFill>
                  <a:srgbClr val="1F9180"/>
                </a:solidFill>
                <a:latin typeface="Calibri"/>
                <a:ea typeface="Calibri"/>
                <a:cs typeface="Calibri"/>
                <a:sym typeface="Calibri"/>
              </a:rPr>
              <a:t>A PFC circuit shapes the input current of the power supply to be in phase with the mains voltage and helps to maximize the real power drawn from the mains.</a:t>
            </a:r>
            <a:endParaRPr sz="2133">
              <a:solidFill>
                <a:srgbClr val="1F9180"/>
              </a:solidFill>
              <a:latin typeface="Calibri"/>
              <a:ea typeface="Calibri"/>
              <a:cs typeface="Calibri"/>
              <a:sym typeface="Calibri"/>
            </a:endParaRPr>
          </a:p>
          <a:p>
            <a:endParaRPr sz="2133">
              <a:solidFill>
                <a:srgbClr val="1F9180"/>
              </a:solidFill>
              <a:latin typeface="Calibri"/>
              <a:ea typeface="Calibri"/>
              <a:cs typeface="Calibri"/>
              <a:sym typeface="Calibri"/>
            </a:endParaRPr>
          </a:p>
          <a:p>
            <a:r>
              <a:rPr lang="en-US" sz="2133">
                <a:solidFill>
                  <a:srgbClr val="1F9180"/>
                </a:solidFill>
                <a:latin typeface="Calibri"/>
                <a:ea typeface="Calibri"/>
                <a:cs typeface="Calibri"/>
                <a:sym typeface="Calibri"/>
              </a:rPr>
              <a:t>Front-end PFC also offers several benefits:</a:t>
            </a:r>
            <a:endParaRPr sz="2133">
              <a:solidFill>
                <a:srgbClr val="1F918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>
              <a:lnSpc>
                <a:spcPct val="60000"/>
              </a:lnSpc>
            </a:pPr>
            <a:endParaRPr sz="2133">
              <a:solidFill>
                <a:srgbClr val="1F918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189" indent="-440256" algn="just">
              <a:buClr>
                <a:srgbClr val="1F9180"/>
              </a:buClr>
              <a:buSzPts val="1600"/>
              <a:buFont typeface="Calibri"/>
              <a:buAutoNum type="arabicPeriod"/>
            </a:pPr>
            <a:r>
              <a:rPr lang="en-US" sz="2133">
                <a:solidFill>
                  <a:srgbClr val="1F9180"/>
                </a:solidFill>
                <a:latin typeface="Calibri"/>
                <a:ea typeface="Calibri"/>
                <a:cs typeface="Calibri"/>
                <a:sym typeface="Calibri"/>
              </a:rPr>
              <a:t>Reduces RMS input current</a:t>
            </a:r>
            <a:endParaRPr sz="2133">
              <a:solidFill>
                <a:srgbClr val="1F918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189" indent="-440256" algn="just">
              <a:buClr>
                <a:srgbClr val="1F9180"/>
              </a:buClr>
              <a:buSzPts val="1600"/>
              <a:buFont typeface="Calibri"/>
              <a:buAutoNum type="arabicPeriod"/>
            </a:pPr>
            <a:r>
              <a:rPr lang="en-US" sz="2133">
                <a:solidFill>
                  <a:srgbClr val="1F9180"/>
                </a:solidFill>
                <a:latin typeface="Calibri"/>
                <a:ea typeface="Calibri"/>
                <a:cs typeface="Calibri"/>
                <a:sym typeface="Calibri"/>
              </a:rPr>
              <a:t>Facilitates power supply hold-up</a:t>
            </a:r>
            <a:endParaRPr sz="2133">
              <a:solidFill>
                <a:srgbClr val="1F918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189" indent="-440256" algn="just">
              <a:buClr>
                <a:srgbClr val="1F9180"/>
              </a:buClr>
              <a:buSzPts val="1600"/>
              <a:buFont typeface="Calibri"/>
              <a:buAutoNum type="arabicPeriod"/>
            </a:pPr>
            <a:r>
              <a:rPr lang="en-US" sz="2133">
                <a:solidFill>
                  <a:srgbClr val="1F9180"/>
                </a:solidFill>
                <a:latin typeface="Calibri"/>
                <a:ea typeface="Calibri"/>
                <a:cs typeface="Calibri"/>
                <a:sym typeface="Calibri"/>
              </a:rPr>
              <a:t>Improves efficiency of downstream converters</a:t>
            </a:r>
            <a:endParaRPr sz="2133">
              <a:solidFill>
                <a:srgbClr val="1F918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3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ctr" anchorCtr="0">
            <a:normAutofit/>
          </a:bodyPr>
          <a:lstStyle/>
          <a:p>
            <a:fld id="{00000000-1234-1234-1234-123412341234}" type="slidenum">
              <a:rPr lang="en-US"/>
              <a:pPr/>
              <a:t>2</a:t>
            </a:fld>
            <a:r>
              <a:rPr lang="en-US"/>
              <a:t>/27</a:t>
            </a:r>
            <a:endParaRPr/>
          </a:p>
        </p:txBody>
      </p:sp>
      <p:sp>
        <p:nvSpPr>
          <p:cNvPr id="215" name="Google Shape;215;p13"/>
          <p:cNvSpPr txBox="1">
            <a:spLocks noGrp="1"/>
          </p:cNvSpPr>
          <p:nvPr>
            <p:ph type="title"/>
          </p:nvPr>
        </p:nvSpPr>
        <p:spPr>
          <a:xfrm>
            <a:off x="0" y="0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>
              <a:buClr>
                <a:schemeClr val="dk1"/>
              </a:buClr>
              <a:buSzPts val="1100"/>
            </a:pPr>
            <a:r>
              <a:rPr lang="en-US" sz="3733">
                <a:latin typeface="Calibri"/>
                <a:ea typeface="Calibri"/>
                <a:cs typeface="Calibri"/>
                <a:sym typeface="Calibri"/>
              </a:rPr>
              <a:t>Unidirectional front-end converter: Boost PFC</a:t>
            </a:r>
            <a:endParaRPr sz="3733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6" name="Google Shape;216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456000" y="2417433"/>
            <a:ext cx="6736003" cy="36373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9d16143204_0_96"/>
          <p:cNvSpPr txBox="1">
            <a:spLocks noGrp="1"/>
          </p:cNvSpPr>
          <p:nvPr>
            <p:ph type="title"/>
          </p:nvPr>
        </p:nvSpPr>
        <p:spPr>
          <a:xfrm>
            <a:off x="0" y="0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>
              <a:buClr>
                <a:schemeClr val="dk1"/>
              </a:buClr>
              <a:buSzPts val="1100"/>
            </a:pPr>
            <a:r>
              <a:rPr lang="en-US" sz="3733">
                <a:latin typeface="Calibri"/>
                <a:ea typeface="Calibri"/>
                <a:cs typeface="Calibri"/>
                <a:sym typeface="Calibri"/>
              </a:rPr>
              <a:t>Boost PFC: TINA simulation</a:t>
            </a:r>
            <a:endParaRPr sz="3733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2" name="Google Shape;222;g39d16143204_0_9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548267" y="147830"/>
            <a:ext cx="479932" cy="467933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" name="Google Shape;223;g39d16143204_0_9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843667" y="95403"/>
            <a:ext cx="629200" cy="629200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g39d16143204_0_96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ctr" anchorCtr="0">
            <a:normAutofit/>
          </a:bodyPr>
          <a:lstStyle/>
          <a:p>
            <a:fld id="{00000000-1234-1234-1234-123412341234}" type="slidenum">
              <a:rPr lang="en-US"/>
              <a:pPr/>
              <a:t>3</a:t>
            </a:fld>
            <a:r>
              <a:rPr lang="en-US"/>
              <a:t>/27</a:t>
            </a:r>
            <a:endParaRPr/>
          </a:p>
        </p:txBody>
      </p:sp>
      <p:pic>
        <p:nvPicPr>
          <p:cNvPr id="225" name="Google Shape;225;g39d16143204_0_96"/>
          <p:cNvPicPr preferRelativeResize="0"/>
          <p:nvPr/>
        </p:nvPicPr>
        <p:blipFill rotWithShape="1">
          <a:blip r:embed="rId5">
            <a:alphaModFix/>
          </a:blip>
          <a:srcRect l="1588" t="2229" r="1549"/>
          <a:stretch/>
        </p:blipFill>
        <p:spPr>
          <a:xfrm>
            <a:off x="116834" y="916967"/>
            <a:ext cx="7137397" cy="3198333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g39d16143204_0_9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356367" y="4115301"/>
            <a:ext cx="4658335" cy="2681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227;g39d16143204_0_9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 rot="-5400000">
            <a:off x="6650997" y="1643070"/>
            <a:ext cx="5589267" cy="38303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9d16143204_0_112"/>
          <p:cNvSpPr txBox="1">
            <a:spLocks noGrp="1"/>
          </p:cNvSpPr>
          <p:nvPr>
            <p:ph type="title"/>
          </p:nvPr>
        </p:nvSpPr>
        <p:spPr>
          <a:xfrm>
            <a:off x="0" y="0"/>
            <a:ext cx="4016800" cy="13444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>
              <a:buClr>
                <a:schemeClr val="dk1"/>
              </a:buClr>
              <a:buSzPts val="1100"/>
            </a:pPr>
            <a:r>
              <a:rPr lang="en-US" sz="3733">
                <a:latin typeface="Calibri"/>
                <a:ea typeface="Calibri"/>
                <a:cs typeface="Calibri"/>
                <a:sym typeface="Calibri"/>
              </a:rPr>
              <a:t>Boost PFC Hardware setup</a:t>
            </a:r>
            <a:endParaRPr sz="3733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3" name="Google Shape;233;g39d16143204_0_11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548267" y="147830"/>
            <a:ext cx="479932" cy="467933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234;g39d16143204_0_11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843667" y="95403"/>
            <a:ext cx="629200" cy="629200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g39d16143204_0_112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ctr" anchorCtr="0">
            <a:normAutofit/>
          </a:bodyPr>
          <a:lstStyle/>
          <a:p>
            <a:fld id="{00000000-1234-1234-1234-123412341234}" type="slidenum">
              <a:rPr lang="en-US"/>
              <a:pPr/>
              <a:t>4</a:t>
            </a:fld>
            <a:r>
              <a:rPr lang="en-US"/>
              <a:t>/27</a:t>
            </a:r>
            <a:endParaRPr/>
          </a:p>
        </p:txBody>
      </p:sp>
      <p:pic>
        <p:nvPicPr>
          <p:cNvPr id="236" name="Google Shape;236;g39d16143204_0_112"/>
          <p:cNvPicPr preferRelativeResize="0"/>
          <p:nvPr/>
        </p:nvPicPr>
        <p:blipFill rotWithShape="1">
          <a:blip r:embed="rId5">
            <a:alphaModFix/>
          </a:blip>
          <a:srcRect r="7028"/>
          <a:stretch/>
        </p:blipFill>
        <p:spPr>
          <a:xfrm>
            <a:off x="4510500" y="1"/>
            <a:ext cx="3109899" cy="2508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g39d16143204_0_11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34699" y="2691333"/>
            <a:ext cx="4520864" cy="3390632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Google Shape;238;g39d16143204_0_11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636434" y="2691334"/>
            <a:ext cx="4520869" cy="3390628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g39d16143204_0_112"/>
          <p:cNvSpPr txBox="1"/>
          <p:nvPr/>
        </p:nvSpPr>
        <p:spPr>
          <a:xfrm>
            <a:off x="2478500" y="2291333"/>
            <a:ext cx="7356000" cy="615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endParaRPr sz="2400"/>
          </a:p>
        </p:txBody>
      </p:sp>
      <p:sp>
        <p:nvSpPr>
          <p:cNvPr id="240" name="Google Shape;240;g39d16143204_0_112"/>
          <p:cNvSpPr txBox="1"/>
          <p:nvPr/>
        </p:nvSpPr>
        <p:spPr>
          <a:xfrm>
            <a:off x="2318121" y="1971671"/>
            <a:ext cx="1216400" cy="4924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en-US" sz="1600">
                <a:solidFill>
                  <a:srgbClr val="1F9180"/>
                </a:solidFill>
                <a:latin typeface="Calibri"/>
                <a:ea typeface="Calibri"/>
                <a:cs typeface="Calibri"/>
                <a:sym typeface="Calibri"/>
              </a:rPr>
              <a:t>Supply</a:t>
            </a:r>
            <a:endParaRPr sz="1600">
              <a:solidFill>
                <a:srgbClr val="1F918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g39d16143204_0_112"/>
          <p:cNvSpPr txBox="1"/>
          <p:nvPr/>
        </p:nvSpPr>
        <p:spPr>
          <a:xfrm>
            <a:off x="8015767" y="1944934"/>
            <a:ext cx="1216400" cy="4924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en-US" sz="1600">
                <a:solidFill>
                  <a:srgbClr val="1F9180"/>
                </a:solidFill>
                <a:latin typeface="Calibri"/>
                <a:ea typeface="Calibri"/>
                <a:cs typeface="Calibri"/>
                <a:sym typeface="Calibri"/>
              </a:rPr>
              <a:t>Load</a:t>
            </a:r>
            <a:endParaRPr sz="1600">
              <a:solidFill>
                <a:srgbClr val="1F918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g39d16143204_0_112"/>
          <p:cNvSpPr txBox="1"/>
          <p:nvPr/>
        </p:nvSpPr>
        <p:spPr>
          <a:xfrm>
            <a:off x="0" y="4601783"/>
            <a:ext cx="1216400" cy="7386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en-US" sz="1600">
                <a:solidFill>
                  <a:srgbClr val="1F9180"/>
                </a:solidFill>
                <a:latin typeface="Calibri"/>
                <a:ea typeface="Calibri"/>
                <a:cs typeface="Calibri"/>
                <a:sym typeface="Calibri"/>
              </a:rPr>
              <a:t>Power Analyser</a:t>
            </a:r>
            <a:endParaRPr sz="1600">
              <a:solidFill>
                <a:srgbClr val="1F918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g39d16143204_0_112"/>
          <p:cNvSpPr txBox="1"/>
          <p:nvPr/>
        </p:nvSpPr>
        <p:spPr>
          <a:xfrm>
            <a:off x="8202924" y="6081967"/>
            <a:ext cx="1216400" cy="4924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en-US" sz="1600">
                <a:solidFill>
                  <a:srgbClr val="1F9180"/>
                </a:solidFill>
                <a:latin typeface="Calibri"/>
                <a:ea typeface="Calibri"/>
                <a:cs typeface="Calibri"/>
                <a:sym typeface="Calibri"/>
              </a:rPr>
              <a:t>Inductor</a:t>
            </a:r>
            <a:endParaRPr sz="1600">
              <a:solidFill>
                <a:srgbClr val="1F918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g39d16143204_0_112"/>
          <p:cNvSpPr txBox="1"/>
          <p:nvPr/>
        </p:nvSpPr>
        <p:spPr>
          <a:xfrm>
            <a:off x="9193965" y="6384900"/>
            <a:ext cx="2278800" cy="4924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en-US" sz="1600">
                <a:solidFill>
                  <a:srgbClr val="1F9180"/>
                </a:solidFill>
                <a:latin typeface="Calibri"/>
                <a:ea typeface="Calibri"/>
                <a:cs typeface="Calibri"/>
                <a:sym typeface="Calibri"/>
              </a:rPr>
              <a:t>UCC28180 Controller</a:t>
            </a:r>
            <a:endParaRPr sz="1600">
              <a:solidFill>
                <a:srgbClr val="1F918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g39d16143204_0_112"/>
          <p:cNvSpPr txBox="1"/>
          <p:nvPr/>
        </p:nvSpPr>
        <p:spPr>
          <a:xfrm>
            <a:off x="9238067" y="1824618"/>
            <a:ext cx="1822800" cy="7386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en-US" sz="1600">
                <a:solidFill>
                  <a:srgbClr val="1F9180"/>
                </a:solidFill>
                <a:latin typeface="Calibri"/>
                <a:ea typeface="Calibri"/>
                <a:cs typeface="Calibri"/>
                <a:sym typeface="Calibri"/>
              </a:rPr>
              <a:t>15V power supply for controller</a:t>
            </a:r>
            <a:endParaRPr sz="1600">
              <a:solidFill>
                <a:srgbClr val="1F918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g39d16143204_0_112"/>
          <p:cNvSpPr txBox="1"/>
          <p:nvPr/>
        </p:nvSpPr>
        <p:spPr>
          <a:xfrm>
            <a:off x="5394767" y="6451733"/>
            <a:ext cx="4016800" cy="4924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en-US" sz="1600">
                <a:solidFill>
                  <a:srgbClr val="1F9180"/>
                </a:solidFill>
                <a:latin typeface="Calibri"/>
                <a:ea typeface="Calibri"/>
                <a:cs typeface="Calibri"/>
                <a:sym typeface="Calibri"/>
              </a:rPr>
              <a:t>Shunt Resistance for current measurement</a:t>
            </a:r>
            <a:endParaRPr sz="1600">
              <a:solidFill>
                <a:srgbClr val="1F918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g39d16143204_0_112"/>
          <p:cNvSpPr txBox="1"/>
          <p:nvPr/>
        </p:nvSpPr>
        <p:spPr>
          <a:xfrm>
            <a:off x="3243800" y="6110634"/>
            <a:ext cx="1916800" cy="7386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en-US" sz="1600">
                <a:solidFill>
                  <a:srgbClr val="1F9180"/>
                </a:solidFill>
                <a:latin typeface="Calibri"/>
                <a:ea typeface="Calibri"/>
                <a:cs typeface="Calibri"/>
                <a:sym typeface="Calibri"/>
              </a:rPr>
              <a:t>Series resistance to limit Inrush Current</a:t>
            </a:r>
            <a:endParaRPr sz="1600">
              <a:solidFill>
                <a:srgbClr val="1F918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g39d16143204_0_112"/>
          <p:cNvSpPr txBox="1"/>
          <p:nvPr/>
        </p:nvSpPr>
        <p:spPr>
          <a:xfrm>
            <a:off x="11126573" y="5129728"/>
            <a:ext cx="1015200" cy="4924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en-US" sz="1600">
                <a:solidFill>
                  <a:srgbClr val="1F9180"/>
                </a:solidFill>
                <a:latin typeface="Calibri"/>
                <a:ea typeface="Calibri"/>
                <a:cs typeface="Calibri"/>
                <a:sym typeface="Calibri"/>
              </a:rPr>
              <a:t>Switches</a:t>
            </a:r>
            <a:endParaRPr sz="1600">
              <a:solidFill>
                <a:srgbClr val="1F918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g39d16143204_0_112"/>
          <p:cNvSpPr/>
          <p:nvPr/>
        </p:nvSpPr>
        <p:spPr>
          <a:xfrm rot="-4371">
            <a:off x="770700" y="4735788"/>
            <a:ext cx="629200" cy="3104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1F9180"/>
          </a:solidFill>
          <a:ln w="25400" cap="flat" cmpd="sng">
            <a:solidFill>
              <a:srgbClr val="F1C23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>
              <a:buClr>
                <a:srgbClr val="000000"/>
              </a:buClr>
              <a:buSzPts val="1400"/>
            </a:pPr>
            <a:endParaRPr sz="1867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g39d16143204_0_112"/>
          <p:cNvSpPr/>
          <p:nvPr/>
        </p:nvSpPr>
        <p:spPr>
          <a:xfrm rot="-5404681">
            <a:off x="3666454" y="5594663"/>
            <a:ext cx="881201" cy="3728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1F9180"/>
          </a:solidFill>
          <a:ln w="25400" cap="flat" cmpd="sng">
            <a:solidFill>
              <a:srgbClr val="F1C23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>
              <a:buClr>
                <a:srgbClr val="000000"/>
              </a:buClr>
              <a:buSzPts val="1400"/>
            </a:pPr>
            <a:endParaRPr sz="1867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g39d16143204_0_112"/>
          <p:cNvSpPr/>
          <p:nvPr/>
        </p:nvSpPr>
        <p:spPr>
          <a:xfrm rot="5395628">
            <a:off x="7732168" y="2799620"/>
            <a:ext cx="1258001" cy="3728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1F9180"/>
          </a:solidFill>
          <a:ln w="25400" cap="flat" cmpd="sng">
            <a:solidFill>
              <a:srgbClr val="F1C23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>
              <a:buClr>
                <a:srgbClr val="000000"/>
              </a:buClr>
              <a:buSzPts val="1400"/>
            </a:pPr>
            <a:endParaRPr sz="1867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g39d16143204_0_112"/>
          <p:cNvSpPr/>
          <p:nvPr/>
        </p:nvSpPr>
        <p:spPr>
          <a:xfrm rot="5394884">
            <a:off x="2457848" y="2513759"/>
            <a:ext cx="537600" cy="4136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1F9180"/>
          </a:solidFill>
          <a:ln w="25400" cap="flat" cmpd="sng">
            <a:solidFill>
              <a:srgbClr val="F1C23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>
              <a:buClr>
                <a:srgbClr val="000000"/>
              </a:buClr>
              <a:buSzPts val="1400"/>
            </a:pPr>
            <a:endParaRPr sz="1867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g39d16143204_0_112"/>
          <p:cNvSpPr/>
          <p:nvPr/>
        </p:nvSpPr>
        <p:spPr>
          <a:xfrm rot="5396013">
            <a:off x="9516785" y="2770564"/>
            <a:ext cx="1034801" cy="3972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1F9180"/>
          </a:solidFill>
          <a:ln w="25400" cap="flat" cmpd="sng">
            <a:solidFill>
              <a:srgbClr val="F1C23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>
              <a:buClr>
                <a:srgbClr val="000000"/>
              </a:buClr>
              <a:buSzPts val="1400"/>
            </a:pPr>
            <a:endParaRPr sz="1867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g39d16143204_0_112"/>
          <p:cNvSpPr/>
          <p:nvPr/>
        </p:nvSpPr>
        <p:spPr>
          <a:xfrm rot="-5404624">
            <a:off x="8107554" y="5473268"/>
            <a:ext cx="1189601" cy="3072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1F9180"/>
          </a:solidFill>
          <a:ln w="25400" cap="flat" cmpd="sng">
            <a:solidFill>
              <a:srgbClr val="F1C23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>
              <a:buClr>
                <a:srgbClr val="000000"/>
              </a:buClr>
              <a:buSzPts val="1400"/>
            </a:pPr>
            <a:endParaRPr sz="1867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g39d16143204_0_112"/>
          <p:cNvSpPr/>
          <p:nvPr/>
        </p:nvSpPr>
        <p:spPr>
          <a:xfrm rot="-3093478">
            <a:off x="7264179" y="5984181"/>
            <a:ext cx="1265516" cy="291796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1F9180"/>
          </a:solidFill>
          <a:ln w="25400" cap="flat" cmpd="sng">
            <a:solidFill>
              <a:srgbClr val="F1C23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>
              <a:buClr>
                <a:srgbClr val="000000"/>
              </a:buClr>
              <a:buSzPts val="1400"/>
            </a:pPr>
            <a:endParaRPr sz="1867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g39d16143204_0_112"/>
          <p:cNvSpPr/>
          <p:nvPr/>
        </p:nvSpPr>
        <p:spPr>
          <a:xfrm rot="-5405367">
            <a:off x="9424127" y="6095632"/>
            <a:ext cx="512400" cy="2744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1F9180"/>
          </a:solidFill>
          <a:ln w="25400" cap="flat" cmpd="sng">
            <a:solidFill>
              <a:srgbClr val="F1C23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>
              <a:buClr>
                <a:srgbClr val="000000"/>
              </a:buClr>
              <a:buSzPts val="1400"/>
            </a:pPr>
            <a:endParaRPr sz="1867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g39d16143204_0_112"/>
          <p:cNvSpPr/>
          <p:nvPr/>
        </p:nvSpPr>
        <p:spPr>
          <a:xfrm rot="10795075">
            <a:off x="9817933" y="5209067"/>
            <a:ext cx="1396001" cy="3336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1F9180"/>
          </a:solidFill>
          <a:ln w="25400" cap="flat" cmpd="sng">
            <a:solidFill>
              <a:srgbClr val="F1C23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>
              <a:buClr>
                <a:srgbClr val="000000"/>
              </a:buClr>
              <a:buSzPts val="1400"/>
            </a:pPr>
            <a:endParaRPr sz="1867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g39d16143204_0_112"/>
          <p:cNvSpPr txBox="1"/>
          <p:nvPr/>
        </p:nvSpPr>
        <p:spPr>
          <a:xfrm>
            <a:off x="5776607" y="3428995"/>
            <a:ext cx="1015200" cy="4924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en-US" sz="1600">
                <a:solidFill>
                  <a:srgbClr val="1F9180"/>
                </a:solidFill>
                <a:latin typeface="Calibri"/>
                <a:ea typeface="Calibri"/>
                <a:cs typeface="Calibri"/>
                <a:sym typeface="Calibri"/>
              </a:rPr>
              <a:t>Rectifier</a:t>
            </a:r>
            <a:endParaRPr sz="1600">
              <a:solidFill>
                <a:srgbClr val="1F918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g39d16143204_0_112"/>
          <p:cNvSpPr txBox="1"/>
          <p:nvPr/>
        </p:nvSpPr>
        <p:spPr>
          <a:xfrm>
            <a:off x="5478720" y="4406697"/>
            <a:ext cx="1330000" cy="7386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en-US" sz="1600">
                <a:solidFill>
                  <a:srgbClr val="1F9180"/>
                </a:solidFill>
                <a:latin typeface="Calibri"/>
                <a:ea typeface="Calibri"/>
                <a:cs typeface="Calibri"/>
                <a:sym typeface="Calibri"/>
              </a:rPr>
              <a:t>Auto- Transformer</a:t>
            </a:r>
            <a:endParaRPr sz="1600">
              <a:solidFill>
                <a:srgbClr val="1F918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g39d16143204_0_112"/>
          <p:cNvSpPr/>
          <p:nvPr/>
        </p:nvSpPr>
        <p:spPr>
          <a:xfrm rot="10794719">
            <a:off x="5586267" y="3262224"/>
            <a:ext cx="520800" cy="3388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1F9180"/>
          </a:solidFill>
          <a:ln w="25400" cap="flat" cmpd="sng">
            <a:solidFill>
              <a:srgbClr val="F1C23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>
              <a:buClr>
                <a:srgbClr val="000000"/>
              </a:buClr>
              <a:buSzPts val="1400"/>
            </a:pPr>
            <a:endParaRPr sz="1867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g39d16143204_0_112"/>
          <p:cNvSpPr/>
          <p:nvPr/>
        </p:nvSpPr>
        <p:spPr>
          <a:xfrm rot="-8941562">
            <a:off x="4315664" y="3857907"/>
            <a:ext cx="1540469" cy="408372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1F9180"/>
          </a:solidFill>
          <a:ln w="25400" cap="flat" cmpd="sng">
            <a:solidFill>
              <a:srgbClr val="F1C23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>
              <a:buClr>
                <a:srgbClr val="000000"/>
              </a:buClr>
              <a:buSzPts val="1400"/>
            </a:pPr>
            <a:endParaRPr sz="1867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39dba86e3bc_1_5"/>
          <p:cNvSpPr txBox="1">
            <a:spLocks noGrp="1"/>
          </p:cNvSpPr>
          <p:nvPr>
            <p:ph type="title"/>
          </p:nvPr>
        </p:nvSpPr>
        <p:spPr>
          <a:xfrm>
            <a:off x="0" y="0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>
              <a:buClr>
                <a:schemeClr val="dk1"/>
              </a:buClr>
              <a:buSzPts val="1100"/>
            </a:pPr>
            <a:r>
              <a:rPr lang="en-US" sz="3733">
                <a:latin typeface="Calibri"/>
                <a:ea typeface="Calibri"/>
                <a:cs typeface="Calibri"/>
                <a:sym typeface="Calibri"/>
              </a:rPr>
              <a:t>Boost PFC operating parameters</a:t>
            </a:r>
            <a:endParaRPr sz="3733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7" name="Google Shape;267;g39dba86e3bc_1_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548267" y="147830"/>
            <a:ext cx="479932" cy="467933"/>
          </a:xfrm>
          <a:prstGeom prst="rect">
            <a:avLst/>
          </a:prstGeom>
          <a:noFill/>
          <a:ln>
            <a:noFill/>
          </a:ln>
        </p:spPr>
      </p:pic>
      <p:pic>
        <p:nvPicPr>
          <p:cNvPr id="268" name="Google Shape;268;g39dba86e3bc_1_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843667" y="95403"/>
            <a:ext cx="629200" cy="629200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g39dba86e3bc_1_5"/>
          <p:cNvSpPr txBox="1"/>
          <p:nvPr/>
        </p:nvSpPr>
        <p:spPr>
          <a:xfrm>
            <a:off x="4752367" y="1531567"/>
            <a:ext cx="2340800" cy="147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>
              <a:buClr>
                <a:srgbClr val="000000"/>
              </a:buClr>
              <a:buSzPts val="1400"/>
            </a:pPr>
            <a:endParaRPr sz="186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70" name="Google Shape;270;g39dba86e3bc_1_5"/>
          <p:cNvGraphicFramePr/>
          <p:nvPr/>
        </p:nvGraphicFramePr>
        <p:xfrm>
          <a:off x="142718" y="899869"/>
          <a:ext cx="8289133" cy="5169088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918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706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36408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2100">
                          <a:solidFill>
                            <a:srgbClr val="1F91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Input</a:t>
                      </a:r>
                      <a:r>
                        <a:rPr lang="en-US" sz="2100" u="none" strike="noStrike" cap="none">
                          <a:solidFill>
                            <a:srgbClr val="1F91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Voltage (</a:t>
                      </a:r>
                      <a:r>
                        <a:rPr lang="en-US" sz="2100">
                          <a:solidFill>
                            <a:srgbClr val="1F91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AC</a:t>
                      </a:r>
                      <a:r>
                        <a:rPr lang="en-US" sz="2100" u="none" strike="noStrike" cap="none">
                          <a:solidFill>
                            <a:srgbClr val="1F91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)</a:t>
                      </a:r>
                      <a:endParaRPr sz="2100" u="none" strike="noStrike" cap="none">
                        <a:solidFill>
                          <a:srgbClr val="1F918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1900" marR="121900" marT="121900" marB="1219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2100">
                          <a:solidFill>
                            <a:srgbClr val="1F91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230</a:t>
                      </a:r>
                      <a:r>
                        <a:rPr lang="en-US" sz="2100" u="none" strike="noStrike" cap="none">
                          <a:solidFill>
                            <a:srgbClr val="1F91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</a:t>
                      </a:r>
                      <a:endParaRPr sz="2100" u="none" strike="noStrike" cap="none">
                        <a:solidFill>
                          <a:srgbClr val="1F918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1900" marR="121900" marT="121900" marB="1219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6408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2100">
                          <a:solidFill>
                            <a:srgbClr val="1F91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Output Voltage (DC)</a:t>
                      </a:r>
                      <a:endParaRPr sz="2100" u="none" strike="noStrike" cap="none">
                        <a:solidFill>
                          <a:srgbClr val="1F918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1900" marR="121900" marT="121900" marB="1219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2100">
                          <a:solidFill>
                            <a:srgbClr val="1F91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400V</a:t>
                      </a:r>
                      <a:endParaRPr sz="2100" u="none" strike="noStrike" cap="none">
                        <a:solidFill>
                          <a:srgbClr val="1F918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1900" marR="121900" marT="121900" marB="1219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6408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2100">
                          <a:solidFill>
                            <a:srgbClr val="1F91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</a:t>
                      </a:r>
                      <a:r>
                        <a:rPr lang="en-US" sz="2100" u="none" strike="noStrike" cap="none">
                          <a:solidFill>
                            <a:srgbClr val="1F91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nductor (L)</a:t>
                      </a:r>
                      <a:endParaRPr sz="2100" u="none" strike="noStrike" cap="none">
                        <a:solidFill>
                          <a:srgbClr val="1F918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1900" marR="121900" marT="121900" marB="1219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2100">
                          <a:solidFill>
                            <a:srgbClr val="1F91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2mH</a:t>
                      </a:r>
                      <a:endParaRPr sz="2100" u="none" strike="noStrike" cap="none">
                        <a:solidFill>
                          <a:srgbClr val="1F918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1900" marR="121900" marT="121900" marB="1219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6408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2100">
                          <a:solidFill>
                            <a:srgbClr val="1F91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Controller IC</a:t>
                      </a:r>
                      <a:endParaRPr sz="2100" u="none" strike="noStrike" cap="none">
                        <a:solidFill>
                          <a:srgbClr val="1F918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1900" marR="121900" marT="121900" marB="1219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2100">
                          <a:solidFill>
                            <a:srgbClr val="1F91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TI: UCC28180</a:t>
                      </a:r>
                      <a:endParaRPr sz="2100" u="none" strike="noStrike" cap="none">
                        <a:solidFill>
                          <a:srgbClr val="1F918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1900" marR="121900" marT="121900" marB="1219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21624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2100">
                          <a:solidFill>
                            <a:srgbClr val="1F91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Switches </a:t>
                      </a:r>
                      <a:endParaRPr sz="2100" u="none" strike="noStrike" cap="none">
                        <a:solidFill>
                          <a:srgbClr val="1F918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1900" marR="121900" marT="121900" marB="1219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2100" dirty="0">
                          <a:solidFill>
                            <a:srgbClr val="1F91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D1= 1N5406: 600V, 3A</a:t>
                      </a:r>
                      <a:endParaRPr sz="2100" dirty="0">
                        <a:solidFill>
                          <a:srgbClr val="1F918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2100" dirty="0">
                          <a:solidFill>
                            <a:srgbClr val="1F91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D2: U1560: 15A 600V</a:t>
                      </a:r>
                      <a:endParaRPr sz="2100" dirty="0">
                        <a:solidFill>
                          <a:srgbClr val="1F918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2100" dirty="0" err="1">
                          <a:solidFill>
                            <a:srgbClr val="1F91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Sw</a:t>
                      </a:r>
                      <a:r>
                        <a:rPr lang="en-US" sz="2100" dirty="0">
                          <a:solidFill>
                            <a:srgbClr val="1F91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: K40H1203: 1200V, 40A</a:t>
                      </a:r>
                      <a:endParaRPr sz="2100" dirty="0">
                        <a:solidFill>
                          <a:srgbClr val="1F918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1900" marR="121900" marT="121900" marB="12190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6408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2100">
                          <a:solidFill>
                            <a:srgbClr val="1F91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Output Capacitor</a:t>
                      </a:r>
                      <a:endParaRPr sz="2100" u="none" strike="noStrike" cap="none">
                        <a:solidFill>
                          <a:srgbClr val="1F918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1900" marR="121900" marT="121900" marB="1219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2100">
                          <a:solidFill>
                            <a:srgbClr val="1F91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820uF, 450V</a:t>
                      </a:r>
                      <a:endParaRPr sz="2100" u="none" strike="noStrike" cap="none">
                        <a:solidFill>
                          <a:srgbClr val="1F918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1900" marR="121900" marT="121900" marB="12190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6408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>
                          <a:solidFill>
                            <a:srgbClr val="1F91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Frequency of operation</a:t>
                      </a:r>
                      <a:endParaRPr sz="2100">
                        <a:solidFill>
                          <a:srgbClr val="1F918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1900" marR="121900" marT="121900" marB="1219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>
                          <a:solidFill>
                            <a:srgbClr val="1F91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45kHz</a:t>
                      </a:r>
                      <a:endParaRPr sz="2100">
                        <a:solidFill>
                          <a:srgbClr val="1F918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1900" marR="121900" marT="121900" marB="12190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829016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2100">
                          <a:solidFill>
                            <a:srgbClr val="1F91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Shunt Resistance for current measurement</a:t>
                      </a:r>
                      <a:endParaRPr sz="2100">
                        <a:solidFill>
                          <a:srgbClr val="1F918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1900" marR="121900" marT="121900" marB="1219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2100" dirty="0">
                          <a:solidFill>
                            <a:srgbClr val="1F91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10mΩ</a:t>
                      </a:r>
                      <a:endParaRPr sz="2100" u="none" strike="noStrike" cap="none" dirty="0">
                        <a:solidFill>
                          <a:srgbClr val="1F918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1900" marR="121900" marT="121900" marB="12190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71" name="Google Shape;271;g39dba86e3bc_1_5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ctr" anchorCtr="0">
            <a:normAutofit/>
          </a:bodyPr>
          <a:lstStyle/>
          <a:p>
            <a:fld id="{00000000-1234-1234-1234-123412341234}" type="slidenum">
              <a:rPr lang="en-US"/>
              <a:pPr/>
              <a:t>5</a:t>
            </a:fld>
            <a:r>
              <a:rPr lang="en-US"/>
              <a:t>/27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39dba86e3bc_1_21"/>
          <p:cNvSpPr txBox="1">
            <a:spLocks noGrp="1"/>
          </p:cNvSpPr>
          <p:nvPr>
            <p:ph type="title"/>
          </p:nvPr>
        </p:nvSpPr>
        <p:spPr>
          <a:xfrm>
            <a:off x="0" y="0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>
              <a:buClr>
                <a:schemeClr val="dk1"/>
              </a:buClr>
              <a:buSzPts val="1100"/>
            </a:pPr>
            <a:r>
              <a:rPr lang="en-US" sz="3733" dirty="0">
                <a:latin typeface="Calibri"/>
                <a:ea typeface="Calibri"/>
                <a:cs typeface="Calibri"/>
                <a:sym typeface="Calibri"/>
              </a:rPr>
              <a:t>Boost PFC experimental results</a:t>
            </a:r>
            <a:endParaRPr sz="3733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7" name="Google Shape;277;g39dba86e3bc_1_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548267" y="147830"/>
            <a:ext cx="479932" cy="467933"/>
          </a:xfrm>
          <a:prstGeom prst="rect">
            <a:avLst/>
          </a:prstGeom>
          <a:noFill/>
          <a:ln>
            <a:noFill/>
          </a:ln>
        </p:spPr>
      </p:pic>
      <p:pic>
        <p:nvPicPr>
          <p:cNvPr id="278" name="Google Shape;278;g39dba86e3bc_1_2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843667" y="95403"/>
            <a:ext cx="629200" cy="629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9" name="Google Shape;279;g39dba86e3bc_1_21"/>
          <p:cNvPicPr preferRelativeResize="0"/>
          <p:nvPr/>
        </p:nvPicPr>
        <p:blipFill rotWithShape="1">
          <a:blip r:embed="rId5">
            <a:alphaModFix/>
          </a:blip>
          <a:srcRect r="17287"/>
          <a:stretch/>
        </p:blipFill>
        <p:spPr>
          <a:xfrm>
            <a:off x="185641" y="3836133"/>
            <a:ext cx="4540968" cy="275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0" name="Google Shape;280;g39dba86e3bc_1_21"/>
          <p:cNvPicPr preferRelativeResize="0"/>
          <p:nvPr/>
        </p:nvPicPr>
        <p:blipFill rotWithShape="1">
          <a:blip r:embed="rId6">
            <a:alphaModFix/>
          </a:blip>
          <a:srcRect r="17491"/>
          <a:stretch/>
        </p:blipFill>
        <p:spPr>
          <a:xfrm>
            <a:off x="7015400" y="3910425"/>
            <a:ext cx="4448632" cy="275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1" name="Google Shape;281;g39dba86e3bc_1_21"/>
          <p:cNvPicPr preferRelativeResize="0"/>
          <p:nvPr/>
        </p:nvPicPr>
        <p:blipFill rotWithShape="1">
          <a:blip r:embed="rId7">
            <a:alphaModFix/>
          </a:blip>
          <a:srcRect r="17580"/>
          <a:stretch/>
        </p:blipFill>
        <p:spPr>
          <a:xfrm>
            <a:off x="185641" y="834433"/>
            <a:ext cx="4540968" cy="2699467"/>
          </a:xfrm>
          <a:prstGeom prst="rect">
            <a:avLst/>
          </a:prstGeom>
          <a:noFill/>
          <a:ln>
            <a:noFill/>
          </a:ln>
        </p:spPr>
      </p:pic>
      <p:pic>
        <p:nvPicPr>
          <p:cNvPr id="282" name="Google Shape;282;g39dba86e3bc_1_21"/>
          <p:cNvPicPr preferRelativeResize="0"/>
          <p:nvPr/>
        </p:nvPicPr>
        <p:blipFill rotWithShape="1">
          <a:blip r:embed="rId8">
            <a:alphaModFix/>
          </a:blip>
          <a:srcRect r="17287"/>
          <a:stretch/>
        </p:blipFill>
        <p:spPr>
          <a:xfrm>
            <a:off x="6923067" y="904213"/>
            <a:ext cx="4540968" cy="2699467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g39dba86e3bc_1_21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ctr" anchorCtr="0">
            <a:normAutofit/>
          </a:bodyPr>
          <a:lstStyle/>
          <a:p>
            <a:fld id="{00000000-1234-1234-1234-123412341234}" type="slidenum">
              <a:rPr lang="en-US"/>
              <a:pPr/>
              <a:t>6</a:t>
            </a:fld>
            <a:r>
              <a:rPr lang="en-US"/>
              <a:t>/27</a:t>
            </a:r>
            <a:endParaRPr/>
          </a:p>
        </p:txBody>
      </p:sp>
      <p:pic>
        <p:nvPicPr>
          <p:cNvPr id="284" name="Google Shape;284;g39dba86e3bc_1_21"/>
          <p:cNvPicPr preferRelativeResize="0"/>
          <p:nvPr/>
        </p:nvPicPr>
        <p:blipFill rotWithShape="1">
          <a:blip r:embed="rId9">
            <a:alphaModFix/>
          </a:blip>
          <a:srcRect r="18327"/>
          <a:stretch/>
        </p:blipFill>
        <p:spPr>
          <a:xfrm>
            <a:off x="6923067" y="839413"/>
            <a:ext cx="4540968" cy="282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5" name="Google Shape;285;g39dba86e3bc_1_21"/>
          <p:cNvPicPr preferRelativeResize="0"/>
          <p:nvPr/>
        </p:nvPicPr>
        <p:blipFill rotWithShape="1">
          <a:blip r:embed="rId10">
            <a:alphaModFix/>
          </a:blip>
          <a:srcRect r="17444"/>
          <a:stretch/>
        </p:blipFill>
        <p:spPr>
          <a:xfrm>
            <a:off x="6983667" y="3910425"/>
            <a:ext cx="4480368" cy="278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" name="Google Shape;286;g39dba86e3bc_1_21"/>
          <p:cNvPicPr preferRelativeResize="0"/>
          <p:nvPr/>
        </p:nvPicPr>
        <p:blipFill rotWithShape="1">
          <a:blip r:embed="rId11">
            <a:alphaModFix/>
          </a:blip>
          <a:srcRect r="17837"/>
          <a:stretch/>
        </p:blipFill>
        <p:spPr>
          <a:xfrm>
            <a:off x="102075" y="3830467"/>
            <a:ext cx="4624533" cy="2846767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g39dba86e3bc_1_21"/>
          <p:cNvPicPr preferRelativeResize="0"/>
          <p:nvPr/>
        </p:nvPicPr>
        <p:blipFill rotWithShape="1">
          <a:blip r:embed="rId12">
            <a:alphaModFix/>
          </a:blip>
          <a:srcRect r="16936"/>
          <a:stretch/>
        </p:blipFill>
        <p:spPr>
          <a:xfrm>
            <a:off x="185641" y="834433"/>
            <a:ext cx="4540968" cy="2755400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g39dba86e3bc_1_21"/>
          <p:cNvSpPr txBox="1"/>
          <p:nvPr/>
        </p:nvSpPr>
        <p:spPr>
          <a:xfrm>
            <a:off x="4792833" y="1074633"/>
            <a:ext cx="2062400" cy="22155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en-US" sz="2133" dirty="0">
                <a:solidFill>
                  <a:srgbClr val="1F9180"/>
                </a:solidFill>
                <a:latin typeface="Calibri"/>
                <a:ea typeface="Calibri"/>
                <a:cs typeface="Calibri"/>
                <a:sym typeface="Calibri"/>
              </a:rPr>
              <a:t>Vin = 100V AC</a:t>
            </a:r>
            <a:endParaRPr sz="2133" dirty="0">
              <a:solidFill>
                <a:srgbClr val="1F9180"/>
              </a:solidFill>
              <a:latin typeface="Calibri"/>
              <a:ea typeface="Calibri"/>
              <a:cs typeface="Calibri"/>
              <a:sym typeface="Calibri"/>
            </a:endParaRPr>
          </a:p>
          <a:p>
            <a:r>
              <a:rPr lang="en-US" sz="2133" dirty="0" err="1">
                <a:solidFill>
                  <a:srgbClr val="1F9180"/>
                </a:solidFill>
                <a:latin typeface="Calibri"/>
                <a:ea typeface="Calibri"/>
                <a:cs typeface="Calibri"/>
                <a:sym typeface="Calibri"/>
              </a:rPr>
              <a:t>Vout</a:t>
            </a:r>
            <a:r>
              <a:rPr lang="en-US" sz="2133" dirty="0">
                <a:solidFill>
                  <a:srgbClr val="1F9180"/>
                </a:solidFill>
                <a:latin typeface="Calibri"/>
                <a:ea typeface="Calibri"/>
                <a:cs typeface="Calibri"/>
                <a:sym typeface="Calibri"/>
              </a:rPr>
              <a:t> = 200V DC</a:t>
            </a:r>
            <a:endParaRPr sz="2133" dirty="0">
              <a:solidFill>
                <a:srgbClr val="1F9180"/>
              </a:solidFill>
              <a:latin typeface="Calibri"/>
              <a:ea typeface="Calibri"/>
              <a:cs typeface="Calibri"/>
              <a:sym typeface="Calibri"/>
            </a:endParaRPr>
          </a:p>
          <a:p>
            <a:r>
              <a:rPr lang="en-US" sz="2133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Pin = 252W</a:t>
            </a:r>
            <a:endParaRPr sz="2133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r>
              <a:rPr lang="en-US" sz="2133" dirty="0">
                <a:solidFill>
                  <a:srgbClr val="1F9180"/>
                </a:solidFill>
                <a:latin typeface="Calibri"/>
                <a:ea typeface="Calibri"/>
                <a:cs typeface="Calibri"/>
                <a:sym typeface="Calibri"/>
              </a:rPr>
              <a:t>Pout = 211.49W</a:t>
            </a:r>
            <a:endParaRPr sz="2133" dirty="0">
              <a:solidFill>
                <a:srgbClr val="1F9180"/>
              </a:solidFill>
              <a:latin typeface="Calibri"/>
              <a:ea typeface="Calibri"/>
              <a:cs typeface="Calibri"/>
              <a:sym typeface="Calibri"/>
            </a:endParaRPr>
          </a:p>
          <a:p>
            <a:r>
              <a:rPr lang="en-US" sz="2133" dirty="0">
                <a:solidFill>
                  <a:srgbClr val="1F9180"/>
                </a:solidFill>
                <a:latin typeface="Calibri"/>
                <a:ea typeface="Calibri"/>
                <a:cs typeface="Calibri"/>
                <a:sym typeface="Calibri"/>
              </a:rPr>
              <a:t>𝞰 = 83.926%</a:t>
            </a:r>
            <a:endParaRPr sz="2133" dirty="0">
              <a:solidFill>
                <a:srgbClr val="1F9180"/>
              </a:solidFill>
              <a:latin typeface="Calibri"/>
              <a:ea typeface="Calibri"/>
              <a:cs typeface="Calibri"/>
              <a:sym typeface="Calibri"/>
            </a:endParaRPr>
          </a:p>
          <a:p>
            <a:r>
              <a:rPr lang="en-US" sz="2133" dirty="0">
                <a:solidFill>
                  <a:srgbClr val="1F9180"/>
                </a:solidFill>
                <a:latin typeface="Calibri"/>
                <a:ea typeface="Calibri"/>
                <a:cs typeface="Calibri"/>
                <a:sym typeface="Calibri"/>
              </a:rPr>
              <a:t>PF = 0.9955</a:t>
            </a:r>
            <a:endParaRPr sz="2133" dirty="0">
              <a:solidFill>
                <a:srgbClr val="1F918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9" name="Google Shape;289;g39dba86e3bc_1_21"/>
          <p:cNvPicPr preferRelativeResize="0"/>
          <p:nvPr/>
        </p:nvPicPr>
        <p:blipFill rotWithShape="1">
          <a:blip r:embed="rId13">
            <a:alphaModFix/>
          </a:blip>
          <a:srcRect r="18019"/>
          <a:stretch/>
        </p:blipFill>
        <p:spPr>
          <a:xfrm>
            <a:off x="102067" y="3830467"/>
            <a:ext cx="4624533" cy="2863167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g39dba86e3bc_1_21"/>
          <p:cNvPicPr preferRelativeResize="0"/>
          <p:nvPr/>
        </p:nvPicPr>
        <p:blipFill rotWithShape="1">
          <a:blip r:embed="rId14">
            <a:alphaModFix/>
          </a:blip>
          <a:srcRect r="17992"/>
          <a:stretch/>
        </p:blipFill>
        <p:spPr>
          <a:xfrm>
            <a:off x="6983667" y="3910433"/>
            <a:ext cx="4448632" cy="278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g39dba86e3bc_1_21"/>
          <p:cNvPicPr preferRelativeResize="0"/>
          <p:nvPr/>
        </p:nvPicPr>
        <p:blipFill rotWithShape="1">
          <a:blip r:embed="rId15">
            <a:alphaModFix/>
          </a:blip>
          <a:srcRect r="18480"/>
          <a:stretch/>
        </p:blipFill>
        <p:spPr>
          <a:xfrm>
            <a:off x="185633" y="827000"/>
            <a:ext cx="4540968" cy="278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2" name="Google Shape;292;g39dba86e3bc_1_21"/>
          <p:cNvPicPr preferRelativeResize="0"/>
          <p:nvPr/>
        </p:nvPicPr>
        <p:blipFill rotWithShape="1">
          <a:blip r:embed="rId16">
            <a:alphaModFix/>
          </a:blip>
          <a:srcRect r="17992"/>
          <a:stretch/>
        </p:blipFill>
        <p:spPr>
          <a:xfrm>
            <a:off x="6923067" y="796434"/>
            <a:ext cx="4540965" cy="2863167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g39dba86e3bc_1_21"/>
          <p:cNvSpPr txBox="1"/>
          <p:nvPr/>
        </p:nvSpPr>
        <p:spPr>
          <a:xfrm>
            <a:off x="4827665" y="3910433"/>
            <a:ext cx="2062400" cy="22155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en-US" sz="2133" dirty="0">
                <a:solidFill>
                  <a:srgbClr val="1F9180"/>
                </a:solidFill>
                <a:latin typeface="Calibri"/>
                <a:ea typeface="Calibri"/>
                <a:cs typeface="Calibri"/>
                <a:sym typeface="Calibri"/>
              </a:rPr>
              <a:t>Vin = 230V AC</a:t>
            </a:r>
            <a:endParaRPr sz="2133" dirty="0">
              <a:solidFill>
                <a:srgbClr val="1F9180"/>
              </a:solidFill>
              <a:latin typeface="Calibri"/>
              <a:ea typeface="Calibri"/>
              <a:cs typeface="Calibri"/>
              <a:sym typeface="Calibri"/>
            </a:endParaRPr>
          </a:p>
          <a:p>
            <a:r>
              <a:rPr lang="en-US" sz="2133" dirty="0" err="1">
                <a:solidFill>
                  <a:srgbClr val="1F9180"/>
                </a:solidFill>
                <a:latin typeface="Calibri"/>
                <a:ea typeface="Calibri"/>
                <a:cs typeface="Calibri"/>
                <a:sym typeface="Calibri"/>
              </a:rPr>
              <a:t>Vout</a:t>
            </a:r>
            <a:r>
              <a:rPr lang="en-US" sz="2133" dirty="0">
                <a:solidFill>
                  <a:srgbClr val="1F9180"/>
                </a:solidFill>
                <a:latin typeface="Calibri"/>
                <a:ea typeface="Calibri"/>
                <a:cs typeface="Calibri"/>
                <a:sym typeface="Calibri"/>
              </a:rPr>
              <a:t> = 400V DC</a:t>
            </a:r>
            <a:endParaRPr sz="2133" dirty="0">
              <a:solidFill>
                <a:srgbClr val="1F9180"/>
              </a:solidFill>
              <a:latin typeface="Calibri"/>
              <a:ea typeface="Calibri"/>
              <a:cs typeface="Calibri"/>
              <a:sym typeface="Calibri"/>
            </a:endParaRPr>
          </a:p>
          <a:p>
            <a:r>
              <a:rPr lang="en-US" sz="2133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Pin = 539.63W</a:t>
            </a:r>
            <a:endParaRPr sz="2133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r>
              <a:rPr lang="en-US" sz="2133" dirty="0">
                <a:solidFill>
                  <a:srgbClr val="1F9180"/>
                </a:solidFill>
                <a:latin typeface="Calibri"/>
                <a:ea typeface="Calibri"/>
                <a:cs typeface="Calibri"/>
                <a:sym typeface="Calibri"/>
              </a:rPr>
              <a:t>Pout = 482.5W</a:t>
            </a:r>
            <a:endParaRPr sz="2133" dirty="0">
              <a:solidFill>
                <a:srgbClr val="1F9180"/>
              </a:solidFill>
              <a:latin typeface="Calibri"/>
              <a:ea typeface="Calibri"/>
              <a:cs typeface="Calibri"/>
              <a:sym typeface="Calibri"/>
            </a:endParaRPr>
          </a:p>
          <a:p>
            <a:r>
              <a:rPr lang="en-US" sz="2133" dirty="0">
                <a:solidFill>
                  <a:srgbClr val="1F9180"/>
                </a:solidFill>
                <a:latin typeface="Calibri"/>
                <a:ea typeface="Calibri"/>
                <a:cs typeface="Calibri"/>
                <a:sym typeface="Calibri"/>
              </a:rPr>
              <a:t>𝞰 = 89.4%</a:t>
            </a:r>
            <a:endParaRPr sz="2133" dirty="0">
              <a:solidFill>
                <a:srgbClr val="1F918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>
              <a:buClr>
                <a:schemeClr val="dk1"/>
              </a:buClr>
              <a:buSzPts val="1100"/>
            </a:pPr>
            <a:r>
              <a:rPr lang="en-US" sz="2133" dirty="0">
                <a:solidFill>
                  <a:srgbClr val="1F9180"/>
                </a:solidFill>
                <a:latin typeface="Calibri"/>
                <a:ea typeface="Calibri"/>
                <a:cs typeface="Calibri"/>
                <a:sym typeface="Calibri"/>
              </a:rPr>
              <a:t>PF = 0.9903</a:t>
            </a:r>
            <a:endParaRPr sz="2133" dirty="0">
              <a:solidFill>
                <a:srgbClr val="1F918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4" name="Google Shape;294;g39dba86e3bc_1_21"/>
          <p:cNvCxnSpPr/>
          <p:nvPr/>
        </p:nvCxnSpPr>
        <p:spPr>
          <a:xfrm>
            <a:off x="210452" y="3731633"/>
            <a:ext cx="11732800" cy="30400"/>
          </a:xfrm>
          <a:prstGeom prst="straightConnector1">
            <a:avLst/>
          </a:prstGeom>
          <a:noFill/>
          <a:ln w="9525" cap="flat" cmpd="sng">
            <a:solidFill>
              <a:srgbClr val="1F9180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324ABCDF-3F17-2296-4076-22D291E9E0AE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-2411307" y="4420870"/>
            <a:ext cx="10160000" cy="63881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FB91707-C903-7D09-C42D-B115A5D6672A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280800" y="3493799"/>
            <a:ext cx="10160000" cy="63881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15"/>
          <p:cNvSpPr txBox="1">
            <a:spLocks noGrp="1"/>
          </p:cNvSpPr>
          <p:nvPr>
            <p:ph type="title"/>
          </p:nvPr>
        </p:nvSpPr>
        <p:spPr>
          <a:xfrm>
            <a:off x="0" y="0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>
              <a:buClr>
                <a:schemeClr val="dk1"/>
              </a:buClr>
              <a:buSzPts val="1100"/>
            </a:pPr>
            <a:r>
              <a:rPr lang="en-US" sz="3733">
                <a:latin typeface="Calibri"/>
                <a:ea typeface="Calibri"/>
                <a:cs typeface="Calibri"/>
                <a:sym typeface="Calibri"/>
              </a:rPr>
              <a:t>Failures observed in hardware:</a:t>
            </a:r>
            <a:endParaRPr sz="3733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0" name="Google Shape;300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548267" y="147830"/>
            <a:ext cx="479932" cy="467933"/>
          </a:xfrm>
          <a:prstGeom prst="rect">
            <a:avLst/>
          </a:prstGeom>
          <a:noFill/>
          <a:ln>
            <a:noFill/>
          </a:ln>
        </p:spPr>
      </p:pic>
      <p:pic>
        <p:nvPicPr>
          <p:cNvPr id="301" name="Google Shape;301;p1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843667" y="95403"/>
            <a:ext cx="629200" cy="629200"/>
          </a:xfrm>
          <a:prstGeom prst="rect">
            <a:avLst/>
          </a:prstGeom>
          <a:noFill/>
          <a:ln>
            <a:noFill/>
          </a:ln>
        </p:spPr>
      </p:pic>
      <p:sp>
        <p:nvSpPr>
          <p:cNvPr id="302" name="Google Shape;302;p15"/>
          <p:cNvSpPr txBox="1">
            <a:spLocks noGrp="1"/>
          </p:cNvSpPr>
          <p:nvPr>
            <p:ph type="sldNum" idx="12"/>
          </p:nvPr>
        </p:nvSpPr>
        <p:spPr>
          <a:xfrm>
            <a:off x="11296599" y="6403900"/>
            <a:ext cx="731600" cy="4680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ctr" anchorCtr="0">
            <a:normAutofit/>
          </a:bodyPr>
          <a:lstStyle/>
          <a:p>
            <a:fld id="{00000000-1234-1234-1234-123412341234}" type="slidenum">
              <a:rPr lang="en-US"/>
              <a:pPr/>
              <a:t>7</a:t>
            </a:fld>
            <a:r>
              <a:rPr lang="en-US"/>
              <a:t>/27</a:t>
            </a:r>
            <a:endParaRPr/>
          </a:p>
        </p:txBody>
      </p:sp>
      <p:graphicFrame>
        <p:nvGraphicFramePr>
          <p:cNvPr id="303" name="Google Shape;303;p15"/>
          <p:cNvGraphicFramePr/>
          <p:nvPr/>
        </p:nvGraphicFramePr>
        <p:xfrm>
          <a:off x="67734" y="911403"/>
          <a:ext cx="11939333" cy="5608253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955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842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99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9133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>
                          <a:solidFill>
                            <a:srgbClr val="1F91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Sr. no.</a:t>
                      </a:r>
                      <a:endParaRPr sz="2100">
                        <a:solidFill>
                          <a:srgbClr val="1F918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1900" marR="121900" marT="121900" marB="121900">
                    <a:lnL w="9525" cap="flat" cmpd="sng">
                      <a:solidFill>
                        <a:srgbClr val="1F91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F91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F91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F91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>
                          <a:solidFill>
                            <a:srgbClr val="1F91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Component Failure</a:t>
                      </a:r>
                      <a:endParaRPr sz="2100">
                        <a:solidFill>
                          <a:srgbClr val="1F918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1900" marR="121900" marT="121900" marB="121900">
                    <a:lnL w="9525" cap="flat" cmpd="sng">
                      <a:solidFill>
                        <a:srgbClr val="1F91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F91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F91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F91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>
                          <a:solidFill>
                            <a:srgbClr val="1F91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Possible Reason (Assumed)</a:t>
                      </a:r>
                      <a:endParaRPr sz="2100">
                        <a:solidFill>
                          <a:srgbClr val="1F918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1900" marR="121900" marT="121900" marB="121900">
                    <a:lnL w="9525" cap="flat" cmpd="sng">
                      <a:solidFill>
                        <a:srgbClr val="1F91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F91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F91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F91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892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>
                          <a:solidFill>
                            <a:srgbClr val="1F91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2100">
                        <a:solidFill>
                          <a:srgbClr val="1F918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1900" marR="121900" marT="121900" marB="121900">
                    <a:lnL w="9525" cap="flat" cmpd="sng">
                      <a:solidFill>
                        <a:srgbClr val="1F91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F91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F91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F91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>
                          <a:solidFill>
                            <a:srgbClr val="1F91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Fuse</a:t>
                      </a:r>
                      <a:endParaRPr sz="2100">
                        <a:solidFill>
                          <a:srgbClr val="1F918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1900" marR="121900" marT="121900" marB="121900">
                    <a:lnL w="9525" cap="flat" cmpd="sng">
                      <a:solidFill>
                        <a:srgbClr val="1F91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F91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F91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F91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>
                          <a:solidFill>
                            <a:srgbClr val="1F91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Ignored.</a:t>
                      </a:r>
                      <a:endParaRPr sz="2100">
                        <a:solidFill>
                          <a:srgbClr val="1F918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1900" marR="121900" marT="121900" marB="121900">
                    <a:lnL w="9525" cap="flat" cmpd="sng">
                      <a:solidFill>
                        <a:srgbClr val="1F91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F91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F91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F91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9404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>
                          <a:solidFill>
                            <a:srgbClr val="1F91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2100">
                        <a:solidFill>
                          <a:srgbClr val="1F918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1900" marR="121900" marT="121900" marB="121900">
                    <a:lnL w="9525" cap="flat" cmpd="sng">
                      <a:solidFill>
                        <a:srgbClr val="1F91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F91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F91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F91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>
                          <a:solidFill>
                            <a:srgbClr val="1F91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Fuse+D2+Sw(MOSFET)</a:t>
                      </a:r>
                      <a:endParaRPr sz="2100">
                        <a:solidFill>
                          <a:srgbClr val="1F918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1900" marR="121900" marT="121900" marB="121900">
                    <a:lnL w="9525" cap="flat" cmpd="sng">
                      <a:solidFill>
                        <a:srgbClr val="1F91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F91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F91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F91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>
                          <a:solidFill>
                            <a:srgbClr val="1F91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Thought we have not pull down the gate terminal, as a result false trigger of gate happened. (which was not true).</a:t>
                      </a:r>
                      <a:endParaRPr sz="2100">
                        <a:solidFill>
                          <a:srgbClr val="1F918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1900" marR="121900" marT="121900" marB="121900">
                    <a:lnL w="9525" cap="flat" cmpd="sng">
                      <a:solidFill>
                        <a:srgbClr val="1F91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F91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F91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F91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9404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>
                          <a:solidFill>
                            <a:srgbClr val="1F91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sz="2100">
                        <a:solidFill>
                          <a:srgbClr val="1F918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1900" marR="121900" marT="121900" marB="121900">
                    <a:lnL w="9525" cap="flat" cmpd="sng">
                      <a:solidFill>
                        <a:srgbClr val="1F91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F91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F91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F91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2100">
                          <a:solidFill>
                            <a:srgbClr val="1F91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Fuse+D2+Sw(IGBT)</a:t>
                      </a:r>
                      <a:endParaRPr sz="2100">
                        <a:solidFill>
                          <a:srgbClr val="1F918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1900" marR="121900" marT="121900" marB="121900">
                    <a:lnL w="9525" cap="flat" cmpd="sng">
                      <a:solidFill>
                        <a:srgbClr val="1F91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F91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F91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F91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>
                          <a:solidFill>
                            <a:srgbClr val="1F91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D2 was of 3A rating, which fails as SC its terminal, as result DC link short circuited via Sw.</a:t>
                      </a:r>
                      <a:endParaRPr sz="2100">
                        <a:solidFill>
                          <a:srgbClr val="1F918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1900" marR="121900" marT="121900" marB="121900">
                    <a:lnL w="9525" cap="flat" cmpd="sng">
                      <a:solidFill>
                        <a:srgbClr val="1F91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F91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F91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F91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9404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>
                          <a:solidFill>
                            <a:srgbClr val="1F91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 sz="2100">
                        <a:solidFill>
                          <a:srgbClr val="1F918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1900" marR="121900" marT="121900" marB="121900">
                    <a:lnL w="9525" cap="flat" cmpd="sng">
                      <a:solidFill>
                        <a:srgbClr val="1F91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F91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F91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F91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2100">
                          <a:solidFill>
                            <a:srgbClr val="1F91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Fuse+D1+Sw(IGBT)</a:t>
                      </a:r>
                      <a:endParaRPr sz="2100">
                        <a:solidFill>
                          <a:srgbClr val="1F918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1900" marR="121900" marT="121900" marB="121900">
                    <a:lnL w="9525" cap="flat" cmpd="sng">
                      <a:solidFill>
                        <a:srgbClr val="1F91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F91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F91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F91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>
                          <a:solidFill>
                            <a:srgbClr val="1F91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D1 fails(SC) due to multiple inrush current from source, causing DC link short circuit via inductor and Sw.</a:t>
                      </a:r>
                      <a:endParaRPr sz="2100">
                        <a:solidFill>
                          <a:srgbClr val="1F918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1900" marR="121900" marT="121900" marB="121900">
                    <a:lnL w="9525" cap="flat" cmpd="sng">
                      <a:solidFill>
                        <a:srgbClr val="1F91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F91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F91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F91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892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>
                          <a:solidFill>
                            <a:srgbClr val="1F91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 sz="2100">
                        <a:solidFill>
                          <a:srgbClr val="1F918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1900" marR="121900" marT="121900" marB="121900">
                    <a:lnL w="9525" cap="flat" cmpd="sng">
                      <a:solidFill>
                        <a:srgbClr val="1F91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F91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F91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F91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2100">
                          <a:solidFill>
                            <a:srgbClr val="1F91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Fuse+Rsh+Sw(SiC)</a:t>
                      </a:r>
                      <a:endParaRPr sz="2100">
                        <a:solidFill>
                          <a:srgbClr val="1F918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1900" marR="121900" marT="121900" marB="121900">
                    <a:lnL w="9525" cap="flat" cmpd="sng">
                      <a:solidFill>
                        <a:srgbClr val="1F91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F91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F91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F91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>
                          <a:solidFill>
                            <a:srgbClr val="1F91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Saturation of L, or Overvoltage on switch, after that we tuned Rgon.</a:t>
                      </a:r>
                      <a:endParaRPr sz="2100">
                        <a:solidFill>
                          <a:srgbClr val="1F918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1900" marR="121900" marT="121900" marB="121900">
                    <a:lnL w="9525" cap="flat" cmpd="sng">
                      <a:solidFill>
                        <a:srgbClr val="1F91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F91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F91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F91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21916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>
                          <a:solidFill>
                            <a:srgbClr val="1F91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 sz="2100">
                        <a:solidFill>
                          <a:srgbClr val="1F918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1900" marR="121900" marT="121900" marB="121900">
                    <a:lnL w="9525" cap="flat" cmpd="sng">
                      <a:solidFill>
                        <a:srgbClr val="1F91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F91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F91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F91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2100">
                          <a:solidFill>
                            <a:srgbClr val="1F91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Fuse+Sw(MOSFET)</a:t>
                      </a:r>
                      <a:endParaRPr sz="2100">
                        <a:solidFill>
                          <a:srgbClr val="1F918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1900" marR="121900" marT="121900" marB="121900">
                    <a:lnL w="9525" cap="flat" cmpd="sng">
                      <a:solidFill>
                        <a:srgbClr val="1F91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F91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F91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F91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>
                          <a:solidFill>
                            <a:srgbClr val="1F91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Thermal breakdown of Switch after 45 min of operation at @650W and 65kHz. Heat spreader was not efficient. (heating problem was not observed earlier)</a:t>
                      </a:r>
                      <a:endParaRPr sz="2100">
                        <a:solidFill>
                          <a:srgbClr val="1F918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1900" marR="121900" marT="121900" marB="121900">
                    <a:lnL w="9525" cap="flat" cmpd="sng">
                      <a:solidFill>
                        <a:srgbClr val="1F91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F91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F91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F91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474</Words>
  <Application>Microsoft Office PowerPoint</Application>
  <PresentationFormat>Widescreen</PresentationFormat>
  <Paragraphs>91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Calibri</vt:lpstr>
      <vt:lpstr>Calibri Light</vt:lpstr>
      <vt:lpstr>Nunito</vt:lpstr>
      <vt:lpstr>Nunito Medium</vt:lpstr>
      <vt:lpstr>Office Theme</vt:lpstr>
      <vt:lpstr>Design of Boost PFC Converter</vt:lpstr>
      <vt:lpstr>Unidirectional front-end converter: Boost PFC</vt:lpstr>
      <vt:lpstr>Boost PFC: TINA simulation</vt:lpstr>
      <vt:lpstr>Boost PFC Hardware setup</vt:lpstr>
      <vt:lpstr>Boost PFC operating parameters</vt:lpstr>
      <vt:lpstr>Boost PFC experimental results</vt:lpstr>
      <vt:lpstr>Failures observed in hardware: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Aditya Kumar</dc:creator>
  <cp:lastModifiedBy>Aditya Kumar</cp:lastModifiedBy>
  <cp:revision>5</cp:revision>
  <dcterms:created xsi:type="dcterms:W3CDTF">2026-01-15T14:34:31Z</dcterms:created>
  <dcterms:modified xsi:type="dcterms:W3CDTF">2026-01-15T14:38:51Z</dcterms:modified>
</cp:coreProperties>
</file>